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Relationship Id="rId7" Type="http://schemas.openxmlformats.org/officeDocument/2006/relationships/image" Target="../media/image9.png"/><Relationship Id="rId8" Type="http://schemas.openxmlformats.org/officeDocument/2006/relationships/image" Target="../media/image10.png"/><Relationship Id="rId9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llege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365760"/>
            <a:ext cx="1371600" cy="16002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286000" y="365760"/>
            <a:ext cx="9144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F172A"/>
                </a:solidFill>
              </a:defRPr>
            </a:pPr>
            <a:r>
              <a:t>Dr. N.G.P. INSTITUTE OF TECHNOLOGY</a:t>
            </a:r>
          </a:p>
          <a:p>
            <a:pPr algn="ctr">
              <a:defRPr sz="1050">
                <a:solidFill>
                  <a:srgbClr val="1E293B"/>
                </a:solidFill>
              </a:defRPr>
            </a:pPr>
            <a:r>
              <a:t>Coimbatore - 48</a:t>
            </a:r>
          </a:p>
          <a:p>
            <a:pPr algn="ctr">
              <a:defRPr sz="1050" b="1">
                <a:solidFill>
                  <a:srgbClr val="1E293B"/>
                </a:solidFill>
              </a:defRPr>
            </a:pPr>
            <a:r>
              <a:t>(An Autonomous Institution)</a:t>
            </a:r>
          </a:p>
          <a:p>
            <a:pPr algn="ctr">
              <a:defRPr sz="1050">
                <a:solidFill>
                  <a:srgbClr val="1E293B"/>
                </a:solidFill>
              </a:defRPr>
            </a:pPr>
            <a:r>
              <a:t>(Approved by AICTE, New Delhi &amp; Affiliated to Anna University, Chennai)</a:t>
            </a:r>
          </a:p>
          <a:p>
            <a:pPr algn="ctr">
              <a:defRPr sz="1050">
                <a:solidFill>
                  <a:srgbClr val="1E293B"/>
                </a:solidFill>
              </a:defRPr>
            </a:pPr>
            <a:r>
              <a:t>Recognized by UGC &amp; Accredited by NAAC A+ and NBA (CSE, BME, EEE, ECE and Mech) Dr.N.G.P. Nagar,</a:t>
            </a:r>
          </a:p>
          <a:p>
            <a:pPr algn="ctr">
              <a:defRPr sz="1050">
                <a:solidFill>
                  <a:srgbClr val="1E293B"/>
                </a:solidFill>
              </a:defRPr>
            </a:pPr>
            <a:r>
              <a:t>Kalapatti Main Rd, Coimbatore, Tamil Nadu 641048</a:t>
            </a:r>
          </a:p>
          <a:p>
            <a:pPr algn="ctr">
              <a:defRPr sz="1050">
                <a:solidFill>
                  <a:srgbClr val="1E293B"/>
                </a:solidFill>
              </a:defRPr>
            </a:pPr>
            <a:r>
              <a:t>Ph No: 0422 - 236 9105, Fax: 04222369106, E-mail: info@drngpit.ac.in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286000"/>
            <a:ext cx="107286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0F172A"/>
                </a:solidFill>
              </a:defRPr>
            </a:pPr>
            <a:r>
              <a:t>DEPARTMENT OF ARTIFICIAL INTELLIGENCE AND DATA SCIENCE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926080"/>
            <a:ext cx="1072865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 b="1">
                <a:solidFill>
                  <a:srgbClr val="0F172A"/>
                </a:solidFill>
              </a:defRPr>
            </a:pPr>
            <a:r>
              <a:t>22EEC501 – PROFESSIONAL READINESS COURSE</a:t>
            </a:r>
          </a:p>
          <a:p>
            <a:pPr algn="ctr">
              <a:defRPr sz="1400" b="1">
                <a:solidFill>
                  <a:srgbClr val="0F172A"/>
                </a:solidFill>
              </a:defRPr>
            </a:pPr>
            <a:r>
              <a:t>on</a:t>
            </a:r>
          </a:p>
          <a:p>
            <a:pPr algn="ctr">
              <a:defRPr sz="1600" b="1">
                <a:solidFill>
                  <a:srgbClr val="DC2626"/>
                </a:solidFill>
              </a:defRPr>
            </a:pPr>
            <a:r>
              <a:t>16/05/2026 – 30/05/2026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389120"/>
            <a:ext cx="457200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FACULTY IN-CHARGE</a:t>
            </a:r>
          </a:p>
          <a:p>
            <a:pPr>
              <a:defRPr sz="1400" b="1" u="sng">
                <a:solidFill>
                  <a:srgbClr val="0F172A"/>
                </a:solidFill>
              </a:defRPr>
            </a:pPr>
            <a:r>
              <a:t>Ms. C. DIVYA REVATHI M.E.</a:t>
            </a:r>
          </a:p>
          <a:p>
            <a:pPr>
              <a:defRPr sz="1400" b="1">
                <a:solidFill>
                  <a:srgbClr val="0F172A"/>
                </a:solidFill>
              </a:defRPr>
            </a:pPr>
            <a:r>
              <a:t>Assistant Professor (AI &amp; DS)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0" y="4389120"/>
            <a:ext cx="475488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STUDENT NAME: DHANVANTH SENTHIL KUMAR</a:t>
            </a:r>
          </a:p>
          <a:p>
            <a:pPr>
              <a:defRPr sz="1400" b="1">
                <a:solidFill>
                  <a:srgbClr val="0F172A"/>
                </a:solidFill>
              </a:defRPr>
            </a:pPr>
            <a:r>
              <a:t>REG NO: 710724243020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40080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9/25/2026</a:t>
            </a:r>
          </a:p>
          <a:p>
            <a:pPr algn="ctr">
              <a:defRPr sz="1000">
                <a:solidFill>
                  <a:srgbClr val="64748B"/>
                </a:solidFill>
              </a:defRPr>
            </a:pPr>
            <a:r>
              <a:t>SUMMER INTERNSHIP</a:t>
            </a:r>
          </a:p>
          <a:p>
            <a:pPr algn="r">
              <a:defRPr sz="1000">
                <a:solidFill>
                  <a:srgbClr val="64748B"/>
                </a:solidFill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0F172A"/>
                </a:solidFill>
              </a:defRPr>
            </a:pPr>
            <a:r>
              <a:t>OUTLINE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371600"/>
            <a:ext cx="91440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500" b="1">
                <a:solidFill>
                  <a:srgbClr val="0F172A"/>
                </a:solidFill>
              </a:defRPr>
            </a:pPr>
            <a:r>
              <a:t>➤   ABOUT THE COMPANY</a:t>
            </a:r>
          </a:p>
          <a:p>
            <a:pPr>
              <a:spcBef>
                <a:spcPts val="800"/>
              </a:spcBef>
              <a:defRPr sz="1500" b="1">
                <a:solidFill>
                  <a:srgbClr val="0F172A"/>
                </a:solidFill>
              </a:defRPr>
            </a:pPr>
            <a:r>
              <a:t>➤   KEY LEARNINGS FROM THE INTERNSHIP</a:t>
            </a:r>
          </a:p>
          <a:p>
            <a:pPr>
              <a:spcBef>
                <a:spcPts val="800"/>
              </a:spcBef>
              <a:defRPr sz="1500" b="1">
                <a:solidFill>
                  <a:srgbClr val="0F172A"/>
                </a:solidFill>
              </a:defRPr>
            </a:pPr>
            <a:r>
              <a:t>➤   ABOUT THE PROJECT</a:t>
            </a:r>
          </a:p>
          <a:p>
            <a:pPr>
              <a:spcBef>
                <a:spcPts val="800"/>
              </a:spcBef>
              <a:defRPr sz="1500" b="1">
                <a:solidFill>
                  <a:srgbClr val="0F172A"/>
                </a:solidFill>
              </a:defRPr>
            </a:pPr>
            <a:r>
              <a:t>➤   TOOLS AND TECHNOLOGY USED</a:t>
            </a:r>
          </a:p>
          <a:p>
            <a:pPr>
              <a:spcBef>
                <a:spcPts val="800"/>
              </a:spcBef>
              <a:defRPr sz="1500" b="1">
                <a:solidFill>
                  <a:srgbClr val="0F172A"/>
                </a:solidFill>
              </a:defRPr>
            </a:pPr>
            <a:r>
              <a:t>➤   LIST OF MODULES WITH EXPLANATION</a:t>
            </a:r>
          </a:p>
          <a:p>
            <a:pPr>
              <a:spcBef>
                <a:spcPts val="800"/>
              </a:spcBef>
              <a:defRPr sz="1500" b="1">
                <a:solidFill>
                  <a:srgbClr val="0F172A"/>
                </a:solidFill>
              </a:defRPr>
            </a:pPr>
            <a:r>
              <a:t>➤   IMPLEMENTATION</a:t>
            </a:r>
          </a:p>
          <a:p>
            <a:pPr>
              <a:spcBef>
                <a:spcPts val="800"/>
              </a:spcBef>
              <a:defRPr sz="1500" b="1">
                <a:solidFill>
                  <a:srgbClr val="0F172A"/>
                </a:solidFill>
              </a:defRPr>
            </a:pPr>
            <a:r>
              <a:t>➤   OUTPUT SCREENSHOTS</a:t>
            </a:r>
          </a:p>
          <a:p>
            <a:pPr>
              <a:spcBef>
                <a:spcPts val="800"/>
              </a:spcBef>
              <a:defRPr sz="1500" b="1">
                <a:solidFill>
                  <a:srgbClr val="0F172A"/>
                </a:solidFill>
              </a:defRPr>
            </a:pPr>
            <a:r>
              <a:t>➤   CONCLUSION</a:t>
            </a:r>
          </a:p>
          <a:p>
            <a:pPr>
              <a:spcBef>
                <a:spcPts val="800"/>
              </a:spcBef>
              <a:defRPr sz="1500" b="1">
                <a:solidFill>
                  <a:srgbClr val="0F172A"/>
                </a:solidFill>
              </a:defRPr>
            </a:pPr>
            <a:r>
              <a:t>➤   CONTRIBUTIONS IN THE PROJECT</a:t>
            </a:r>
          </a:p>
          <a:p>
            <a:pPr>
              <a:spcBef>
                <a:spcPts val="800"/>
              </a:spcBef>
              <a:defRPr sz="1500" b="1">
                <a:solidFill>
                  <a:srgbClr val="0F172A"/>
                </a:solidFill>
              </a:defRPr>
            </a:pPr>
            <a:r>
              <a:t>➤   REFERENCES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9/25/2026</a:t>
            </a:r>
          </a:p>
          <a:p>
            <a:pPr algn="ctr">
              <a:defRPr sz="1000">
                <a:solidFill>
                  <a:srgbClr val="64748B"/>
                </a:solidFill>
              </a:defRPr>
            </a:pPr>
            <a:r>
              <a:t>SUMMER INTERNSHIP</a:t>
            </a:r>
          </a:p>
          <a:p>
            <a:pPr algn="r">
              <a:defRPr sz="1000">
                <a:solidFill>
                  <a:srgbClr val="64748B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0F172A"/>
                </a:solidFill>
              </a:defRPr>
            </a:pPr>
            <a:r>
              <a:t>ABOUT THE COMPANY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371600" y="1463040"/>
          <a:ext cx="9448495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74720"/>
                <a:gridCol w="5973775"/>
              </a:tblGrid>
              <a:tr h="627017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COMPANY NAME</a:t>
                      </a:r>
                    </a:p>
                  </a:txBody>
                  <a:tcPr anchor="ctr">
                    <a:solidFill>
                      <a:srgbClr val="2BA3D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DLK SOFTWARE SOLUTIONS</a:t>
                      </a:r>
                    </a:p>
                  </a:txBody>
                  <a:tcPr anchor="ctr">
                    <a:solidFill>
                      <a:srgbClr val="2BA3D1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F172A"/>
                          </a:solidFill>
                        </a:defRPr>
                      </a:pPr>
                      <a:r>
                        <a:t>STARTED YEAR</a:t>
                      </a:r>
                    </a:p>
                  </a:txBody>
                  <a:tcPr anchor="ctr">
                    <a:solidFill>
                      <a:srgbClr val="EEF6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0F172A"/>
                          </a:solidFill>
                        </a:defRPr>
                      </a:pPr>
                      <a:r>
                        <a:t>2012</a:t>
                      </a:r>
                    </a:p>
                  </a:txBody>
                  <a:tcPr anchor="ctr">
                    <a:solidFill>
                      <a:srgbClr val="EEF6FC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F172A"/>
                          </a:solidFill>
                        </a:defRPr>
                      </a:pPr>
                      <a:r>
                        <a:t>LOCATION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0F172A"/>
                          </a:solidFill>
                        </a:defRPr>
                      </a:pPr>
                      <a:r>
                        <a:t>Vadapalani, Chennai, Tamil Nadu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F172A"/>
                          </a:solidFill>
                        </a:defRPr>
                      </a:pPr>
                      <a:r>
                        <a:t>SERVICES OFFERED</a:t>
                      </a:r>
                    </a:p>
                  </a:txBody>
                  <a:tcPr anchor="ctr">
                    <a:solidFill>
                      <a:srgbClr val="EEF6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0F172A"/>
                          </a:solidFill>
                        </a:defRPr>
                      </a:pPr>
                      <a:r>
                        <a:t>Software Development, Web &amp; Mobile Apps, Data Science &amp; AI, Digital Marketing &amp; Internships</a:t>
                      </a:r>
                    </a:p>
                  </a:txBody>
                  <a:tcPr anchor="ctr">
                    <a:solidFill>
                      <a:srgbClr val="EEF6FC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F172A"/>
                          </a:solidFill>
                        </a:defRPr>
                      </a:pPr>
                      <a:r>
                        <a:t>INDUSTRY MENTOR NAME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0F172A"/>
                          </a:solidFill>
                        </a:defRPr>
                      </a:pPr>
                      <a:r>
                        <a:t>Mr. Satheesh Kumar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F172A"/>
                          </a:solidFill>
                        </a:defRPr>
                      </a:pPr>
                      <a:r>
                        <a:t>DESIGNATION</a:t>
                      </a:r>
                    </a:p>
                  </a:txBody>
                  <a:tcPr anchor="ctr">
                    <a:solidFill>
                      <a:srgbClr val="EEF6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0F172A"/>
                          </a:solidFill>
                        </a:defRPr>
                      </a:pPr>
                      <a:r>
                        <a:t>Chief Executive Officer</a:t>
                      </a:r>
                    </a:p>
                  </a:txBody>
                  <a:tcPr anchor="ctr">
                    <a:solidFill>
                      <a:srgbClr val="EEF6FC"/>
                    </a:solidFill>
                  </a:tcPr>
                </a:tc>
              </a:tr>
              <a:tr h="627018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F172A"/>
                          </a:solidFill>
                        </a:defRPr>
                      </a:pPr>
                      <a:r>
                        <a:t>DURATION OF INTERN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0F172A"/>
                          </a:solidFill>
                        </a:defRPr>
                      </a:pPr>
                      <a:r>
                        <a:t>16/05/2026 – 30/05/2026 (15 days)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31520" y="640080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9/25/2026</a:t>
            </a:r>
          </a:p>
          <a:p>
            <a:pPr algn="ctr">
              <a:defRPr sz="1000">
                <a:solidFill>
                  <a:srgbClr val="64748B"/>
                </a:solidFill>
              </a:defRPr>
            </a:pPr>
            <a:r>
              <a:t>SUMMER INTERNSHIP</a:t>
            </a:r>
          </a:p>
          <a:p>
            <a:pPr algn="r">
              <a:defRPr sz="1000">
                <a:solidFill>
                  <a:srgbClr val="64748B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0F172A"/>
                </a:solidFill>
              </a:defRPr>
            </a:pPr>
            <a:r>
              <a:t>KEY LEARNINGS FROM THE INTERNSHIP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46304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0F172A"/>
                </a:solidFill>
              </a:defRPr>
            </a:pPr>
            <a:r>
              <a:t>Technical Skills</a:t>
            </a:r>
          </a:p>
          <a:p>
            <a:pPr>
              <a:spcBef>
                <a:spcPts val="1200"/>
              </a:spcBef>
              <a:defRPr sz="1550">
                <a:solidFill>
                  <a:srgbClr val="1E293B"/>
                </a:solidFill>
              </a:defRPr>
            </a:pPr>
            <a:r>
              <a:t>•  Programming &amp; Data Handling – Python, NumPy, Pandas and Matplotlib</a:t>
            </a:r>
          </a:p>
          <a:p>
            <a:pPr>
              <a:spcBef>
                <a:spcPts val="1200"/>
              </a:spcBef>
              <a:defRPr sz="1550">
                <a:solidFill>
                  <a:srgbClr val="1E293B"/>
                </a:solidFill>
              </a:defRPr>
            </a:pPr>
            <a:r>
              <a:t>•  Machine Learning – Regression, Classification, Clustering and Model Evaluation</a:t>
            </a:r>
          </a:p>
          <a:p>
            <a:pPr>
              <a:spcBef>
                <a:spcPts val="1200"/>
              </a:spcBef>
              <a:defRPr sz="1550">
                <a:solidFill>
                  <a:srgbClr val="1E293B"/>
                </a:solidFill>
              </a:defRPr>
            </a:pPr>
            <a:r>
              <a:t>•  Deep Learning – Artificial Neural Networks (ANN) and CNN for image classification</a:t>
            </a:r>
          </a:p>
          <a:p>
            <a:pPr>
              <a:spcBef>
                <a:spcPts val="1200"/>
              </a:spcBef>
              <a:defRPr sz="1550">
                <a:solidFill>
                  <a:srgbClr val="1E293B"/>
                </a:solidFill>
              </a:defRPr>
            </a:pPr>
            <a:r>
              <a:t>•  Deployment &amp; Testing – Flask API and Postman</a:t>
            </a:r>
          </a:p>
          <a:p>
            <a:pPr>
              <a:spcBef>
                <a:spcPts val="1200"/>
              </a:spcBef>
              <a:defRPr sz="1550">
                <a:solidFill>
                  <a:srgbClr val="1E293B"/>
                </a:solidFill>
              </a:defRPr>
            </a:pPr>
            <a:r>
              <a:t>•  Generative AI, Prompt Engineering and Responsible AI – Fairness, transparency, privacy, and ethics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9/25/2026</a:t>
            </a:r>
          </a:p>
          <a:p>
            <a:pPr algn="ctr">
              <a:defRPr sz="1000">
                <a:solidFill>
                  <a:srgbClr val="64748B"/>
                </a:solidFill>
              </a:defRPr>
            </a:pPr>
            <a:r>
              <a:t>SUMMER INTERNSHIP</a:t>
            </a:r>
          </a:p>
          <a:p>
            <a:pPr algn="r">
              <a:defRPr sz="1000">
                <a:solidFill>
                  <a:srgbClr val="64748B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0F172A"/>
                </a:solidFill>
              </a:defRPr>
            </a:pPr>
            <a:r>
              <a:t>ABOUT THE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68580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F172A"/>
                </a:solidFill>
              </a:defRPr>
            </a:pPr>
            <a:r>
              <a:t>AI-Powered Diabetes Predictor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1250">
                <a:solidFill>
                  <a:srgbClr val="334155"/>
                </a:solidFill>
              </a:defRPr>
            </a:pPr>
            <a:r>
              <a:t>A machine learning and healthcare web application that predicts whether a patient belongs to the diabetic or non-diabetic class from numerical clinical features – Pregnancies, Glucose, Blood Pressure, Skin Thickness, Insulin, BMI, Pedigree, and Age. The trained models are served through a Flask API and presented in the DiabetesPredict.AI dashboard.</a:t>
            </a:r>
          </a:p>
          <a:p>
            <a:pPr>
              <a:defRPr sz="1500" b="1">
                <a:solidFill>
                  <a:srgbClr val="0F172A"/>
                </a:solidFill>
              </a:defRPr>
            </a:pPr>
            <a:r>
              <a:t>Objectives</a:t>
            </a:r>
          </a:p>
          <a:p>
            <a:pPr>
              <a:spcBef>
                <a:spcPts val="600"/>
              </a:spcBef>
              <a:defRPr sz="1200">
                <a:solidFill>
                  <a:srgbClr val="334155"/>
                </a:solidFill>
              </a:defRPr>
            </a:pPr>
            <a:r>
              <a:t>•  Prepare raw clinical data through zero-value cleaning, median imputation, scaling, and feature engineering.</a:t>
            </a:r>
          </a:p>
          <a:p>
            <a:pPr>
              <a:spcBef>
                <a:spcPts val="600"/>
              </a:spcBef>
              <a:defRPr sz="1200">
                <a:solidFill>
                  <a:srgbClr val="334155"/>
                </a:solidFill>
              </a:defRPr>
            </a:pPr>
            <a:r>
              <a:t>•  Train and compare supervised classification models (Logistic Regression, KNN, Decision Tree, ANN) on real-world medical data.</a:t>
            </a:r>
          </a:p>
          <a:p>
            <a:pPr>
              <a:spcBef>
                <a:spcPts val="600"/>
              </a:spcBef>
              <a:defRPr sz="1200">
                <a:solidFill>
                  <a:srgbClr val="334155"/>
                </a:solidFill>
              </a:defRPr>
            </a:pPr>
            <a:r>
              <a:t>•  Evaluate performance with standard metrics (Accuracy, Precision, Recall, Confusion Matrix) and identify sources of error.</a:t>
            </a:r>
          </a:p>
          <a:p>
            <a:pPr>
              <a:spcBef>
                <a:spcPts val="600"/>
              </a:spcBef>
              <a:defRPr sz="1200">
                <a:solidFill>
                  <a:srgbClr val="334155"/>
                </a:solidFill>
              </a:defRPr>
            </a:pPr>
            <a:r>
              <a:t>•  Deploy the trained models as a usable Flask API with an interactive web dashboard.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0" y="2011680"/>
            <a:ext cx="3474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0F172A"/>
                </a:solidFill>
              </a:defRPr>
            </a:pPr>
            <a:r>
              <a:t>Project workflow :</a:t>
            </a:r>
          </a:p>
          <a:p>
            <a:pPr>
              <a:spcBef>
                <a:spcPts val="800"/>
              </a:spcBef>
              <a:defRPr sz="1300">
                <a:solidFill>
                  <a:srgbClr val="334155"/>
                </a:solidFill>
              </a:defRPr>
            </a:pPr>
            <a:r>
              <a:t>1. Data collection &amp; preprocessing</a:t>
            </a:r>
          </a:p>
          <a:p>
            <a:pPr>
              <a:spcBef>
                <a:spcPts val="800"/>
              </a:spcBef>
              <a:defRPr sz="1300">
                <a:solidFill>
                  <a:srgbClr val="334155"/>
                </a:solidFill>
              </a:defRPr>
            </a:pPr>
            <a:r>
              <a:t>2. Feature engineering &amp; EDA</a:t>
            </a:r>
          </a:p>
          <a:p>
            <a:pPr>
              <a:spcBef>
                <a:spcPts val="800"/>
              </a:spcBef>
              <a:defRPr sz="1300">
                <a:solidFill>
                  <a:srgbClr val="334155"/>
                </a:solidFill>
              </a:defRPr>
            </a:pPr>
            <a:r>
              <a:t>3. Model training &amp; evaluation</a:t>
            </a:r>
          </a:p>
          <a:p>
            <a:pPr>
              <a:spcBef>
                <a:spcPts val="800"/>
              </a:spcBef>
              <a:defRPr sz="1300">
                <a:solidFill>
                  <a:srgbClr val="334155"/>
                </a:solidFill>
              </a:defRPr>
            </a:pPr>
            <a:r>
              <a:t>4. Flask API &amp; dashboard deployment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9/25/2026</a:t>
            </a:r>
          </a:p>
          <a:p>
            <a:pPr algn="ctr">
              <a:defRPr sz="1000">
                <a:solidFill>
                  <a:srgbClr val="64748B"/>
                </a:solidFill>
              </a:defRPr>
            </a:pPr>
            <a:r>
              <a:t>SUMMER INTERNSHIP</a:t>
            </a:r>
          </a:p>
          <a:p>
            <a:pPr algn="r">
              <a:defRPr sz="1000">
                <a:solidFill>
                  <a:srgbClr val="64748B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0F172A"/>
                </a:solidFill>
              </a:defRPr>
            </a:pPr>
            <a:r>
              <a:t>SYSTEM REQUIREMENTS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46304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F172A"/>
                </a:solidFill>
              </a:defRPr>
            </a:pPr>
            <a:r>
              <a:t>Software:</a:t>
            </a:r>
          </a:p>
          <a:p>
            <a:pPr>
              <a:spcBef>
                <a:spcPts val="400"/>
              </a:spcBef>
              <a:defRPr sz="1400">
                <a:solidFill>
                  <a:srgbClr val="334155"/>
                </a:solidFill>
              </a:defRPr>
            </a:pPr>
            <a:r>
              <a:t>•  Visual Studio Code</a:t>
            </a:r>
          </a:p>
          <a:p>
            <a:pPr>
              <a:spcBef>
                <a:spcPts val="400"/>
              </a:spcBef>
              <a:defRPr sz="1400">
                <a:solidFill>
                  <a:srgbClr val="334155"/>
                </a:solidFill>
              </a:defRPr>
            </a:pPr>
            <a:r>
              <a:t>•  Python, Jupyter Notebook / Google Colab</a:t>
            </a:r>
          </a:p>
          <a:p>
            <a:pPr>
              <a:spcBef>
                <a:spcPts val="400"/>
              </a:spcBef>
              <a:defRPr sz="1400">
                <a:solidFill>
                  <a:srgbClr val="334155"/>
                </a:solidFill>
              </a:defRPr>
            </a:pPr>
            <a:r>
              <a:t>•  Web Browser</a:t>
            </a:r>
          </a:p>
          <a:p>
            <a:pPr>
              <a:spcBef>
                <a:spcPts val="400"/>
              </a:spcBef>
              <a:defRPr sz="1400">
                <a:solidFill>
                  <a:srgbClr val="334155"/>
                </a:solidFill>
              </a:defRPr>
            </a:pPr>
            <a:r>
              <a:t>•  Postman</a:t>
            </a:r>
          </a:p>
          <a:p>
            <a:pPr>
              <a:spcBef>
                <a:spcPts val="1600"/>
              </a:spcBef>
              <a:defRPr sz="1700" b="1">
                <a:solidFill>
                  <a:srgbClr val="0F172A"/>
                </a:solidFill>
              </a:defRPr>
            </a:pPr>
            <a:r>
              <a:t>Development Environment</a:t>
            </a:r>
          </a:p>
          <a:p>
            <a:pPr>
              <a:spcBef>
                <a:spcPts val="400"/>
              </a:spcBef>
              <a:defRPr sz="1400">
                <a:solidFill>
                  <a:srgbClr val="334155"/>
                </a:solidFill>
              </a:defRPr>
            </a:pPr>
            <a:r>
              <a:t>•  Machine Learning: Scikit-Learn, Pandas, NumPy</a:t>
            </a:r>
          </a:p>
          <a:p>
            <a:pPr>
              <a:spcBef>
                <a:spcPts val="400"/>
              </a:spcBef>
              <a:defRPr sz="1400">
                <a:solidFill>
                  <a:srgbClr val="334155"/>
                </a:solidFill>
              </a:defRPr>
            </a:pPr>
            <a:r>
              <a:t>•  Deep Learning: TensorFlow / Keras</a:t>
            </a:r>
          </a:p>
          <a:p>
            <a:pPr>
              <a:spcBef>
                <a:spcPts val="400"/>
              </a:spcBef>
              <a:defRPr sz="1400">
                <a:solidFill>
                  <a:srgbClr val="334155"/>
                </a:solidFill>
              </a:defRPr>
            </a:pPr>
            <a:r>
              <a:t>•  Backend &amp; API: Flask</a:t>
            </a:r>
          </a:p>
          <a:p>
            <a:pPr>
              <a:spcBef>
                <a:spcPts val="400"/>
              </a:spcBef>
              <a:defRPr sz="1400">
                <a:solidFill>
                  <a:srgbClr val="334155"/>
                </a:solidFill>
              </a:defRPr>
            </a:pPr>
            <a:r>
              <a:t>•  Frontend: HTML templates &amp; CSS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9/25/2026</a:t>
            </a:r>
          </a:p>
          <a:p>
            <a:pPr algn="ctr">
              <a:defRPr sz="1000">
                <a:solidFill>
                  <a:srgbClr val="64748B"/>
                </a:solidFill>
              </a:defRPr>
            </a:pPr>
            <a:r>
              <a:t>SUMMER INTERNSHIP</a:t>
            </a:r>
          </a:p>
          <a:p>
            <a:pPr algn="r">
              <a:defRPr sz="1000">
                <a:solidFill>
                  <a:srgbClr val="64748B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0F172A"/>
                </a:solidFill>
              </a:defRPr>
            </a:pPr>
            <a:r>
              <a:t>TOOLS AND TECHNOLOGIES USED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463040"/>
            <a:ext cx="2468880" cy="548640"/>
          </a:xfrm>
          <a:prstGeom prst="rect">
            <a:avLst/>
          </a:prstGeom>
          <a:solidFill>
            <a:srgbClr val="2BA3D1"/>
          </a:solidFill>
          <a:ln>
            <a:solidFill>
              <a:srgbClr val="2BA3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Data &amp; Visualisation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2011680"/>
            <a:ext cx="2468880" cy="411480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1300" b="1">
                <a:solidFill>
                  <a:srgbClr val="0F172A"/>
                </a:solidFill>
              </a:defRPr>
            </a:pPr>
            <a:r>
              <a:t>Python</a:t>
            </a:r>
          </a:p>
          <a:p>
            <a:pPr>
              <a:spcBef>
                <a:spcPts val="100"/>
              </a:spcBef>
              <a:spcAft>
                <a:spcPts val="400"/>
              </a:spcAft>
              <a:defRPr sz="1000">
                <a:solidFill>
                  <a:srgbClr val="64748B"/>
                </a:solidFill>
              </a:defRPr>
            </a:pPr>
            <a:r>
              <a:t>Core programming language</a:t>
            </a:r>
          </a:p>
          <a:p>
            <a:pPr>
              <a:spcBef>
                <a:spcPts val="800"/>
              </a:spcBef>
              <a:defRPr sz="1300" b="1">
                <a:solidFill>
                  <a:srgbClr val="0F172A"/>
                </a:solidFill>
              </a:defRPr>
            </a:pPr>
            <a:r>
              <a:t>NumPy</a:t>
            </a:r>
          </a:p>
          <a:p>
            <a:pPr>
              <a:spcBef>
                <a:spcPts val="100"/>
              </a:spcBef>
              <a:spcAft>
                <a:spcPts val="400"/>
              </a:spcAft>
              <a:defRPr sz="1000">
                <a:solidFill>
                  <a:srgbClr val="64748B"/>
                </a:solidFill>
              </a:defRPr>
            </a:pPr>
            <a:r>
              <a:t>Numerical arrays, vectorised maths</a:t>
            </a:r>
          </a:p>
          <a:p>
            <a:pPr>
              <a:spcBef>
                <a:spcPts val="800"/>
              </a:spcBef>
              <a:defRPr sz="1300" b="1">
                <a:solidFill>
                  <a:srgbClr val="0F172A"/>
                </a:solidFill>
              </a:defRPr>
            </a:pPr>
            <a:r>
              <a:t>Pandas</a:t>
            </a:r>
          </a:p>
          <a:p>
            <a:pPr>
              <a:spcBef>
                <a:spcPts val="100"/>
              </a:spcBef>
              <a:spcAft>
                <a:spcPts val="400"/>
              </a:spcAft>
              <a:defRPr sz="1000">
                <a:solidFill>
                  <a:srgbClr val="64748B"/>
                </a:solidFill>
              </a:defRPr>
            </a:pPr>
            <a:r>
              <a:t>Data loading, cleaning, analysis</a:t>
            </a:r>
          </a:p>
          <a:p>
            <a:pPr>
              <a:spcBef>
                <a:spcPts val="800"/>
              </a:spcBef>
              <a:defRPr sz="1300" b="1">
                <a:solidFill>
                  <a:srgbClr val="0F172A"/>
                </a:solidFill>
              </a:defRPr>
            </a:pPr>
            <a:r>
              <a:t>Matplotlib</a:t>
            </a:r>
          </a:p>
          <a:p>
            <a:pPr>
              <a:spcBef>
                <a:spcPts val="100"/>
              </a:spcBef>
              <a:spcAft>
                <a:spcPts val="400"/>
              </a:spcAft>
              <a:defRPr sz="1000">
                <a:solidFill>
                  <a:srgbClr val="64748B"/>
                </a:solidFill>
              </a:defRPr>
            </a:pPr>
            <a:r>
              <a:t>Charts and data visualisation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3611880" y="1463040"/>
            <a:ext cx="2468880" cy="548640"/>
          </a:xfrm>
          <a:prstGeom prst="rect">
            <a:avLst/>
          </a:prstGeom>
          <a:solidFill>
            <a:srgbClr val="2BA3D1"/>
          </a:solidFill>
          <a:ln>
            <a:solidFill>
              <a:srgbClr val="2BA3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Machine Learning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3611880" y="2011680"/>
            <a:ext cx="2468880" cy="411480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1300" b="1">
                <a:solidFill>
                  <a:srgbClr val="0F172A"/>
                </a:solidFill>
              </a:defRPr>
            </a:pPr>
            <a:r>
              <a:t>Scikit-Learn</a:t>
            </a:r>
          </a:p>
          <a:p>
            <a:pPr>
              <a:spcBef>
                <a:spcPts val="100"/>
              </a:spcBef>
              <a:spcAft>
                <a:spcPts val="400"/>
              </a:spcAft>
              <a:defRPr sz="1000">
                <a:solidFill>
                  <a:srgbClr val="64748B"/>
                </a:solidFill>
              </a:defRPr>
            </a:pPr>
            <a:r>
              <a:t>Classification, clustering, evaluation</a:t>
            </a:r>
          </a:p>
          <a:p>
            <a:pPr>
              <a:spcBef>
                <a:spcPts val="800"/>
              </a:spcBef>
              <a:defRPr sz="1300" b="1">
                <a:solidFill>
                  <a:srgbClr val="0F172A"/>
                </a:solidFill>
              </a:defRPr>
            </a:pPr>
            <a:r>
              <a:t>TensorFlow / Keras</a:t>
            </a:r>
          </a:p>
          <a:p>
            <a:pPr>
              <a:spcBef>
                <a:spcPts val="100"/>
              </a:spcBef>
              <a:spcAft>
                <a:spcPts val="400"/>
              </a:spcAft>
              <a:defRPr sz="1000">
                <a:solidFill>
                  <a:srgbClr val="64748B"/>
                </a:solidFill>
              </a:defRPr>
            </a:pPr>
            <a:r>
              <a:t>Deep learning and neural networks</a:t>
            </a:r>
          </a:p>
          <a:p>
            <a:pPr>
              <a:spcBef>
                <a:spcPts val="800"/>
              </a:spcBef>
              <a:defRPr sz="1300" b="1">
                <a:solidFill>
                  <a:srgbClr val="0F172A"/>
                </a:solidFill>
              </a:defRPr>
            </a:pPr>
            <a:r>
              <a:t>PyTorch</a:t>
            </a:r>
          </a:p>
          <a:p>
            <a:pPr>
              <a:spcBef>
                <a:spcPts val="100"/>
              </a:spcBef>
              <a:spcAft>
                <a:spcPts val="400"/>
              </a:spcAft>
              <a:defRPr sz="1000">
                <a:solidFill>
                  <a:srgbClr val="64748B"/>
                </a:solidFill>
              </a:defRPr>
            </a:pPr>
            <a:r>
              <a:t>Deep learning framework (introduction)</a:t>
            </a:r>
          </a:p>
        </p:txBody>
      </p:sp>
      <p:sp>
        <p:nvSpPr>
          <p:cNvPr id="7" name="Rectangle 6"/>
          <p:cNvSpPr/>
          <p:nvPr/>
        </p:nvSpPr>
        <p:spPr>
          <a:xfrm>
            <a:off x="6309360" y="1463040"/>
            <a:ext cx="2468880" cy="548640"/>
          </a:xfrm>
          <a:prstGeom prst="rect">
            <a:avLst/>
          </a:prstGeom>
          <a:solidFill>
            <a:srgbClr val="2BA3D1"/>
          </a:solidFill>
          <a:ln>
            <a:solidFill>
              <a:srgbClr val="2BA3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Deployment</a:t>
            </a:r>
          </a:p>
        </p:txBody>
      </p:sp>
      <p:sp>
        <p:nvSpPr>
          <p:cNvPr id="8" name="Rectangle 7"/>
          <p:cNvSpPr/>
          <p:nvPr/>
        </p:nvSpPr>
        <p:spPr>
          <a:xfrm>
            <a:off x="6309360" y="2011680"/>
            <a:ext cx="2468880" cy="411480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1300" b="1">
                <a:solidFill>
                  <a:srgbClr val="0F172A"/>
                </a:solidFill>
              </a:defRPr>
            </a:pPr>
            <a:r>
              <a:t>Flask</a:t>
            </a:r>
          </a:p>
          <a:p>
            <a:pPr>
              <a:spcBef>
                <a:spcPts val="100"/>
              </a:spcBef>
              <a:spcAft>
                <a:spcPts val="400"/>
              </a:spcAft>
              <a:defRPr sz="1000">
                <a:solidFill>
                  <a:srgbClr val="64748B"/>
                </a:solidFill>
              </a:defRPr>
            </a:pPr>
            <a:r>
              <a:t>REST API to serve the model</a:t>
            </a:r>
          </a:p>
          <a:p>
            <a:pPr>
              <a:spcBef>
                <a:spcPts val="800"/>
              </a:spcBef>
              <a:defRPr sz="1300" b="1">
                <a:solidFill>
                  <a:srgbClr val="0F172A"/>
                </a:solidFill>
              </a:defRPr>
            </a:pPr>
            <a:r>
              <a:t>Postman</a:t>
            </a:r>
          </a:p>
          <a:p>
            <a:pPr>
              <a:spcBef>
                <a:spcPts val="100"/>
              </a:spcBef>
              <a:spcAft>
                <a:spcPts val="400"/>
              </a:spcAft>
              <a:defRPr sz="1000">
                <a:solidFill>
                  <a:srgbClr val="64748B"/>
                </a:solidFill>
              </a:defRPr>
            </a:pPr>
            <a:r>
              <a:t>Testing prediction requests</a:t>
            </a:r>
          </a:p>
          <a:p>
            <a:pPr>
              <a:spcBef>
                <a:spcPts val="800"/>
              </a:spcBef>
              <a:defRPr sz="1300" b="1">
                <a:solidFill>
                  <a:srgbClr val="0F172A"/>
                </a:solidFill>
              </a:defRPr>
            </a:pPr>
            <a:r>
              <a:t>Web UI</a:t>
            </a:r>
          </a:p>
          <a:p>
            <a:pPr>
              <a:spcBef>
                <a:spcPts val="100"/>
              </a:spcBef>
              <a:spcAft>
                <a:spcPts val="400"/>
              </a:spcAft>
              <a:defRPr sz="1000">
                <a:solidFill>
                  <a:srgbClr val="64748B"/>
                </a:solidFill>
              </a:defRPr>
            </a:pPr>
            <a:r>
              <a:t>DiabetesPredict.AI dashboard</a:t>
            </a:r>
          </a:p>
        </p:txBody>
      </p:sp>
      <p:sp>
        <p:nvSpPr>
          <p:cNvPr id="9" name="Rectangle 8"/>
          <p:cNvSpPr/>
          <p:nvPr/>
        </p:nvSpPr>
        <p:spPr>
          <a:xfrm>
            <a:off x="9006840" y="1463040"/>
            <a:ext cx="2468880" cy="548640"/>
          </a:xfrm>
          <a:prstGeom prst="rect">
            <a:avLst/>
          </a:prstGeom>
          <a:solidFill>
            <a:srgbClr val="2BA3D1"/>
          </a:solidFill>
          <a:ln>
            <a:solidFill>
              <a:srgbClr val="2BA3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Environments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9006840" y="2011680"/>
            <a:ext cx="2468880" cy="411480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1300" b="1">
                <a:solidFill>
                  <a:srgbClr val="0F172A"/>
                </a:solidFill>
              </a:defRPr>
            </a:pPr>
            <a:r>
              <a:t>Jupyter Notebook</a:t>
            </a:r>
          </a:p>
          <a:p>
            <a:pPr>
              <a:spcBef>
                <a:spcPts val="100"/>
              </a:spcBef>
              <a:spcAft>
                <a:spcPts val="400"/>
              </a:spcAft>
              <a:defRPr sz="1000">
                <a:solidFill>
                  <a:srgbClr val="64748B"/>
                </a:solidFill>
              </a:defRPr>
            </a:pPr>
            <a:r>
              <a:t>Interactive coding and experiments</a:t>
            </a:r>
          </a:p>
          <a:p>
            <a:pPr>
              <a:spcBef>
                <a:spcPts val="800"/>
              </a:spcBef>
              <a:defRPr sz="1300" b="1">
                <a:solidFill>
                  <a:srgbClr val="0F172A"/>
                </a:solidFill>
              </a:defRPr>
            </a:pPr>
            <a:r>
              <a:t>Google Colab</a:t>
            </a:r>
          </a:p>
          <a:p>
            <a:pPr>
              <a:spcBef>
                <a:spcPts val="100"/>
              </a:spcBef>
              <a:spcAft>
                <a:spcPts val="400"/>
              </a:spcAft>
              <a:defRPr sz="1000">
                <a:solidFill>
                  <a:srgbClr val="64748B"/>
                </a:solidFill>
              </a:defRPr>
            </a:pPr>
            <a:r>
              <a:t>Cloud notebooks, no local setup</a:t>
            </a:r>
          </a:p>
          <a:p>
            <a:pPr>
              <a:spcBef>
                <a:spcPts val="800"/>
              </a:spcBef>
              <a:defRPr sz="1300" b="1">
                <a:solidFill>
                  <a:srgbClr val="0F172A"/>
                </a:solidFill>
              </a:defRPr>
            </a:pPr>
            <a:r>
              <a:t>VS Code</a:t>
            </a:r>
          </a:p>
          <a:p>
            <a:pPr>
              <a:spcBef>
                <a:spcPts val="100"/>
              </a:spcBef>
              <a:spcAft>
                <a:spcPts val="400"/>
              </a:spcAft>
              <a:defRPr sz="1000">
                <a:solidFill>
                  <a:srgbClr val="64748B"/>
                </a:solidFill>
              </a:defRPr>
            </a:pPr>
            <a:r>
              <a:t>Project and script development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640080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9/25/2026</a:t>
            </a:r>
          </a:p>
          <a:p>
            <a:pPr algn="ctr">
              <a:defRPr sz="1000">
                <a:solidFill>
                  <a:srgbClr val="64748B"/>
                </a:solidFill>
              </a:defRPr>
            </a:pPr>
            <a:r>
              <a:t>SUMMER INTERNSHIP</a:t>
            </a:r>
          </a:p>
          <a:p>
            <a:pPr algn="r">
              <a:defRPr sz="1000">
                <a:solidFill>
                  <a:srgbClr val="64748B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0F172A"/>
                </a:solidFill>
              </a:defRPr>
            </a:pPr>
            <a:r>
              <a:t>LIST OF MODULES WITH EXPLANATION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463040"/>
            <a:ext cx="3291840" cy="201168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97280" y="1645920"/>
            <a:ext cx="502920" cy="502920"/>
          </a:xfrm>
          <a:prstGeom prst="ellipse">
            <a:avLst/>
          </a:prstGeom>
          <a:solidFill>
            <a:srgbClr val="2BA3D1"/>
          </a:solidFill>
          <a:ln>
            <a:solidFill>
              <a:srgbClr val="2BA3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91640" y="1600200"/>
            <a:ext cx="2423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Data Preprocessing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194560"/>
            <a:ext cx="29260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475569"/>
                </a:solidFill>
              </a:defRPr>
            </a:pPr>
            <a:r>
              <a:t>Loads diabetes.csv (768 records), cleans invalid zeros, imputes missing values with median, and scales numeric features.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0" y="1463040"/>
            <a:ext cx="3291840" cy="201168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754880" y="1645920"/>
            <a:ext cx="502920" cy="502920"/>
          </a:xfrm>
          <a:prstGeom prst="ellipse">
            <a:avLst/>
          </a:prstGeom>
          <a:solidFill>
            <a:srgbClr val="2BA3D1"/>
          </a:solidFill>
          <a:ln>
            <a:solidFill>
              <a:srgbClr val="2BA3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49240" y="1600200"/>
            <a:ext cx="2423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Exploratory Data Analysis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0" y="2194560"/>
            <a:ext cx="29260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475569"/>
                </a:solidFill>
              </a:defRPr>
            </a:pPr>
            <a:r>
              <a:t>Pandas summaries, class balance checks, and correlation checks with Matplotlib charts show Glucose and BMI drive risk most.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0" y="1463040"/>
            <a:ext cx="3291840" cy="201168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412480" y="1645920"/>
            <a:ext cx="502920" cy="502920"/>
          </a:xfrm>
          <a:prstGeom prst="ellipse">
            <a:avLst/>
          </a:prstGeom>
          <a:solidFill>
            <a:srgbClr val="2BA3D1"/>
          </a:solidFill>
          <a:ln>
            <a:solidFill>
              <a:srgbClr val="2BA3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06840" y="1600200"/>
            <a:ext cx="2423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Feature Engineering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0" y="2194560"/>
            <a:ext cx="29260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475569"/>
                </a:solidFill>
              </a:defRPr>
            </a:pPr>
            <a:r>
              <a:t>Creates interaction feature (Glucose * Age), evaluates correlation rankings, and prepares optimal training matrices.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3840480"/>
            <a:ext cx="3291840" cy="201168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097280" y="4023360"/>
            <a:ext cx="502920" cy="502920"/>
          </a:xfrm>
          <a:prstGeom prst="ellipse">
            <a:avLst/>
          </a:prstGeom>
          <a:solidFill>
            <a:srgbClr val="2BA3D1"/>
          </a:solidFill>
          <a:ln>
            <a:solidFill>
              <a:srgbClr val="2BA3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91640" y="3977640"/>
            <a:ext cx="2423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Model Training &amp; Evaluation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4572000"/>
            <a:ext cx="29260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475569"/>
                </a:solidFill>
              </a:defRPr>
            </a:pPr>
            <a:r>
              <a:t>Trains Logistic Regression, KNN, and Decision Trees; evaluates with Accuracy, Precision, Recall, and Confusion Matrices.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0" y="3840480"/>
            <a:ext cx="3291840" cy="201168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754880" y="4023360"/>
            <a:ext cx="502920" cy="502920"/>
          </a:xfrm>
          <a:prstGeom prst="ellipse">
            <a:avLst/>
          </a:prstGeom>
          <a:solidFill>
            <a:srgbClr val="2BA3D1"/>
          </a:solidFill>
          <a:ln>
            <a:solidFill>
              <a:srgbClr val="2BA3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49240" y="3977640"/>
            <a:ext cx="2423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Clustering &amp; Neural Network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54880" y="4572000"/>
            <a:ext cx="29260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475569"/>
                </a:solidFill>
              </a:defRPr>
            </a:pPr>
            <a:r>
              <a:t>Demonstrates K-Means &amp; Hierarchical grouping (K=3) and builds a Keras ANN with ReLU and Sigmoid activations.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29600" y="3840480"/>
            <a:ext cx="3291840" cy="201168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412480" y="4023360"/>
            <a:ext cx="502920" cy="502920"/>
          </a:xfrm>
          <a:prstGeom prst="ellipse">
            <a:avLst/>
          </a:prstGeom>
          <a:solidFill>
            <a:srgbClr val="2BA3D1"/>
          </a:solidFill>
          <a:ln>
            <a:solidFill>
              <a:srgbClr val="2BA3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06840" y="3977640"/>
            <a:ext cx="2423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DiabetesPredict.AI Dashboard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12480" y="4572000"/>
            <a:ext cx="29260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475569"/>
                </a:solidFill>
              </a:defRPr>
            </a:pPr>
            <a:r>
              <a:t>Web front-end where patient health metrics are entered and independent multi-model prediction reports are generated.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640080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9/25/2026</a:t>
            </a:r>
          </a:p>
          <a:p>
            <a:pPr algn="ctr">
              <a:defRPr sz="1000">
                <a:solidFill>
                  <a:srgbClr val="64748B"/>
                </a:solidFill>
              </a:defRPr>
            </a:pPr>
            <a:r>
              <a:t>SUMMER INTERNSHIP</a:t>
            </a:r>
          </a:p>
          <a:p>
            <a:pPr algn="r">
              <a:defRPr sz="1000">
                <a:solidFill>
                  <a:srgbClr val="64748B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0F172A"/>
                </a:solidFill>
              </a:defRPr>
            </a:pPr>
            <a:r>
              <a:t>IMPLEMENTATION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463040"/>
            <a:ext cx="3291840" cy="201168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51560" y="1600200"/>
            <a:ext cx="411480" cy="411480"/>
          </a:xfrm>
          <a:prstGeom prst="ellipse">
            <a:avLst/>
          </a:prstGeom>
          <a:solidFill>
            <a:srgbClr val="2BA3D1"/>
          </a:solidFill>
          <a:ln>
            <a:solidFill>
              <a:srgbClr val="2BA3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08760" y="1554480"/>
            <a:ext cx="2606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0F172A"/>
                </a:solidFill>
              </a:defRPr>
            </a:pPr>
            <a:r>
              <a:t>Data Collection &amp; Preprocessing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2057400"/>
            <a:ext cx="3017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defRPr sz="919">
                <a:solidFill>
                  <a:srgbClr val="334155"/>
                </a:solidFill>
              </a:defRPr>
            </a:pPr>
            <a:r>
              <a:t>• Collected diabetes.csv dataset (768 records)</a:t>
            </a:r>
          </a:p>
          <a:p>
            <a:pPr>
              <a:spcBef>
                <a:spcPts val="200"/>
              </a:spcBef>
              <a:defRPr sz="919">
                <a:solidFill>
                  <a:srgbClr val="334155"/>
                </a:solidFill>
              </a:defRPr>
            </a:pPr>
            <a:r>
              <a:t>• Handled missing and zero readings in vital signs</a:t>
            </a:r>
          </a:p>
          <a:p>
            <a:pPr>
              <a:spcBef>
                <a:spcPts val="200"/>
              </a:spcBef>
              <a:defRPr sz="919">
                <a:solidFill>
                  <a:srgbClr val="334155"/>
                </a:solidFill>
              </a:defRPr>
            </a:pPr>
            <a:r>
              <a:t>• Imputed missing observations using column median</a:t>
            </a:r>
          </a:p>
          <a:p>
            <a:pPr>
              <a:spcBef>
                <a:spcPts val="200"/>
              </a:spcBef>
              <a:defRPr sz="919">
                <a:solidFill>
                  <a:srgbClr val="334155"/>
                </a:solidFill>
              </a:defRPr>
            </a:pPr>
            <a:r>
              <a:t>• Standardized features with StandardScaler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0" y="1463040"/>
            <a:ext cx="3291840" cy="201168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709160" y="1600200"/>
            <a:ext cx="411480" cy="411480"/>
          </a:xfrm>
          <a:prstGeom prst="ellipse">
            <a:avLst/>
          </a:prstGeom>
          <a:solidFill>
            <a:srgbClr val="2BA3D1"/>
          </a:solidFill>
          <a:ln>
            <a:solidFill>
              <a:srgbClr val="2BA3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66360" y="1554480"/>
            <a:ext cx="2606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0F172A"/>
                </a:solidFill>
              </a:defRPr>
            </a:pPr>
            <a:r>
              <a:t>Exploratory Data Analysis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09160" y="2057400"/>
            <a:ext cx="3017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defRPr sz="919">
                <a:solidFill>
                  <a:srgbClr val="334155"/>
                </a:solidFill>
              </a:defRPr>
            </a:pPr>
            <a:r>
              <a:t>• Pandas summaries and statistical analysis</a:t>
            </a:r>
          </a:p>
          <a:p>
            <a:pPr>
              <a:spcBef>
                <a:spcPts val="200"/>
              </a:spcBef>
              <a:defRPr sz="919">
                <a:solidFill>
                  <a:srgbClr val="334155"/>
                </a:solidFill>
              </a:defRPr>
            </a:pPr>
            <a:r>
              <a:t>• Visualized distributions using Matplotlib</a:t>
            </a:r>
          </a:p>
          <a:p>
            <a:pPr>
              <a:spcBef>
                <a:spcPts val="200"/>
              </a:spcBef>
              <a:defRPr sz="919">
                <a:solidFill>
                  <a:srgbClr val="334155"/>
                </a:solidFill>
              </a:defRPr>
            </a:pPr>
            <a:r>
              <a:t>• Correlation analysis to identify key risk features</a:t>
            </a:r>
          </a:p>
          <a:p>
            <a:pPr>
              <a:spcBef>
                <a:spcPts val="200"/>
              </a:spcBef>
              <a:defRPr sz="919">
                <a:solidFill>
                  <a:srgbClr val="334155"/>
                </a:solidFill>
              </a:defRPr>
            </a:pPr>
            <a:r>
              <a:t>• Found Glucose and BMI strongly correlate with class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0" y="1463040"/>
            <a:ext cx="3291840" cy="201168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366760" y="1600200"/>
            <a:ext cx="411480" cy="411480"/>
          </a:xfrm>
          <a:prstGeom prst="ellipse">
            <a:avLst/>
          </a:prstGeom>
          <a:solidFill>
            <a:srgbClr val="2BA3D1"/>
          </a:solidFill>
          <a:ln>
            <a:solidFill>
              <a:srgbClr val="2BA3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23960" y="1554480"/>
            <a:ext cx="2606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0F172A"/>
                </a:solidFill>
              </a:defRPr>
            </a:pPr>
            <a:r>
              <a:t>Feature Engineering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66760" y="2057400"/>
            <a:ext cx="3017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defRPr sz="919">
                <a:solidFill>
                  <a:srgbClr val="334155"/>
                </a:solidFill>
              </a:defRPr>
            </a:pPr>
            <a:r>
              <a:t>• Created interaction feature (Glucose * Age)</a:t>
            </a:r>
          </a:p>
          <a:p>
            <a:pPr>
              <a:spcBef>
                <a:spcPts val="200"/>
              </a:spcBef>
              <a:defRPr sz="919">
                <a:solidFill>
                  <a:srgbClr val="334155"/>
                </a:solidFill>
              </a:defRPr>
            </a:pPr>
            <a:r>
              <a:t>• Calculated correlation importance scores</a:t>
            </a:r>
          </a:p>
          <a:p>
            <a:pPr>
              <a:spcBef>
                <a:spcPts val="200"/>
              </a:spcBef>
              <a:defRPr sz="919">
                <a:solidFill>
                  <a:srgbClr val="334155"/>
                </a:solidFill>
              </a:defRPr>
            </a:pPr>
            <a:r>
              <a:t>• Engineered optimal feature input representations</a:t>
            </a:r>
          </a:p>
          <a:p>
            <a:pPr>
              <a:spcBef>
                <a:spcPts val="200"/>
              </a:spcBef>
              <a:defRPr sz="919">
                <a:solidFill>
                  <a:srgbClr val="334155"/>
                </a:solidFill>
              </a:defRPr>
            </a:pPr>
            <a:r>
              <a:t>• Prepared train/test split for validation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3840480"/>
            <a:ext cx="3291840" cy="201168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051560" y="3977640"/>
            <a:ext cx="411480" cy="411480"/>
          </a:xfrm>
          <a:prstGeom prst="ellipse">
            <a:avLst/>
          </a:prstGeom>
          <a:solidFill>
            <a:srgbClr val="2BA3D1"/>
          </a:solidFill>
          <a:ln>
            <a:solidFill>
              <a:srgbClr val="2BA3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08760" y="3931920"/>
            <a:ext cx="2606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0F172A"/>
                </a:solidFill>
              </a:defRPr>
            </a:pPr>
            <a:r>
              <a:t>Model Training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" y="4434840"/>
            <a:ext cx="3017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defRPr sz="919">
                <a:solidFill>
                  <a:srgbClr val="334155"/>
                </a:solidFill>
              </a:defRPr>
            </a:pPr>
            <a:r>
              <a:t>• Trained Logistic Regression, KNN, Decision Tree</a:t>
            </a:r>
          </a:p>
          <a:p>
            <a:pPr>
              <a:spcBef>
                <a:spcPts val="200"/>
              </a:spcBef>
              <a:defRPr sz="919">
                <a:solidFill>
                  <a:srgbClr val="334155"/>
                </a:solidFill>
              </a:defRPr>
            </a:pPr>
            <a:r>
              <a:t>• Built &amp; trained Keras Artificial Neural Network</a:t>
            </a:r>
          </a:p>
          <a:p>
            <a:pPr>
              <a:spcBef>
                <a:spcPts val="200"/>
              </a:spcBef>
              <a:defRPr sz="919">
                <a:solidFill>
                  <a:srgbClr val="334155"/>
                </a:solidFill>
              </a:defRPr>
            </a:pPr>
            <a:r>
              <a:t>• Executed K-Means &amp; Hierarchical clustering</a:t>
            </a:r>
          </a:p>
          <a:p>
            <a:pPr>
              <a:spcBef>
                <a:spcPts val="200"/>
              </a:spcBef>
              <a:defRPr sz="919">
                <a:solidFill>
                  <a:srgbClr val="334155"/>
                </a:solidFill>
              </a:defRPr>
            </a:pPr>
            <a:r>
              <a:t>• Optimized models on 80% training split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0" y="3840480"/>
            <a:ext cx="3291840" cy="201168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709160" y="3977640"/>
            <a:ext cx="411480" cy="411480"/>
          </a:xfrm>
          <a:prstGeom prst="ellipse">
            <a:avLst/>
          </a:prstGeom>
          <a:solidFill>
            <a:srgbClr val="2BA3D1"/>
          </a:solidFill>
          <a:ln>
            <a:solidFill>
              <a:srgbClr val="2BA3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66360" y="3931920"/>
            <a:ext cx="2606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0F172A"/>
                </a:solidFill>
              </a:defRPr>
            </a:pPr>
            <a:r>
              <a:t>Model Evaluation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09160" y="4434840"/>
            <a:ext cx="3017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defRPr sz="919">
                <a:solidFill>
                  <a:srgbClr val="334155"/>
                </a:solidFill>
              </a:defRPr>
            </a:pPr>
            <a:r>
              <a:t>• Evaluated Accuracy, Precision, and Recall</a:t>
            </a:r>
          </a:p>
          <a:p>
            <a:pPr>
              <a:spcBef>
                <a:spcPts val="200"/>
              </a:spcBef>
              <a:defRPr sz="919">
                <a:solidFill>
                  <a:srgbClr val="334155"/>
                </a:solidFill>
              </a:defRPr>
            </a:pPr>
            <a:r>
              <a:t>• Generated Confusion Matrices (TP, TN, FP, FN)</a:t>
            </a:r>
          </a:p>
          <a:p>
            <a:pPr>
              <a:spcBef>
                <a:spcPts val="200"/>
              </a:spcBef>
              <a:defRPr sz="919">
                <a:solidFill>
                  <a:srgbClr val="334155"/>
                </a:solidFill>
              </a:defRPr>
            </a:pPr>
            <a:r>
              <a:t>• Compared performance across all classifiers</a:t>
            </a:r>
          </a:p>
          <a:p>
            <a:pPr>
              <a:spcBef>
                <a:spcPts val="200"/>
              </a:spcBef>
              <a:defRPr sz="919">
                <a:solidFill>
                  <a:srgbClr val="334155"/>
                </a:solidFill>
              </a:defRPr>
            </a:pPr>
            <a:r>
              <a:t>• Selected ANN (75.3%) &amp; Decision Tree for deployment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29600" y="3840480"/>
            <a:ext cx="3291840" cy="201168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366760" y="3977640"/>
            <a:ext cx="411480" cy="411480"/>
          </a:xfrm>
          <a:prstGeom prst="ellipse">
            <a:avLst/>
          </a:prstGeom>
          <a:solidFill>
            <a:srgbClr val="2BA3D1"/>
          </a:solidFill>
          <a:ln>
            <a:solidFill>
              <a:srgbClr val="2BA3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23960" y="3931920"/>
            <a:ext cx="2606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0F172A"/>
                </a:solidFill>
              </a:defRPr>
            </a:pPr>
            <a:r>
              <a:t>Flask API Deployment &amp; Web Dashboard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66760" y="4434840"/>
            <a:ext cx="3017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defRPr sz="919">
                <a:solidFill>
                  <a:srgbClr val="334155"/>
                </a:solidFill>
              </a:defRPr>
            </a:pPr>
            <a:r>
              <a:t>• Integrated trained models with Flask REST API</a:t>
            </a:r>
          </a:p>
          <a:p>
            <a:pPr>
              <a:spcBef>
                <a:spcPts val="200"/>
              </a:spcBef>
              <a:defRPr sz="919">
                <a:solidFill>
                  <a:srgbClr val="334155"/>
                </a:solidFill>
              </a:defRPr>
            </a:pPr>
            <a:r>
              <a:t>• Tested prediction endpoints and payload validation</a:t>
            </a:r>
          </a:p>
          <a:p>
            <a:pPr>
              <a:spcBef>
                <a:spcPts val="200"/>
              </a:spcBef>
              <a:defRPr sz="919">
                <a:solidFill>
                  <a:srgbClr val="334155"/>
                </a:solidFill>
              </a:defRPr>
            </a:pPr>
            <a:r>
              <a:t>• Developed 10-page responsive web dashboard</a:t>
            </a:r>
          </a:p>
          <a:p>
            <a:pPr>
              <a:spcBef>
                <a:spcPts val="200"/>
              </a:spcBef>
              <a:defRPr sz="919">
                <a:solidFill>
                  <a:srgbClr val="334155"/>
                </a:solidFill>
              </a:defRPr>
            </a:pPr>
            <a:r>
              <a:t>• Embedded medical disclaimer for Responsible AI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640080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9/25/2026</a:t>
            </a:r>
          </a:p>
          <a:p>
            <a:pPr algn="ctr">
              <a:defRPr sz="1000">
                <a:solidFill>
                  <a:srgbClr val="64748B"/>
                </a:solidFill>
              </a:defRPr>
            </a:pPr>
            <a:r>
              <a:t>SUMMER INTERNSHIP</a:t>
            </a:r>
          </a:p>
          <a:p>
            <a:pPr algn="r">
              <a:defRPr sz="1000">
                <a:solidFill>
                  <a:srgbClr val="64748B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0F172A"/>
                </a:solidFill>
              </a:defRPr>
            </a:pPr>
            <a:r>
              <a:t>OUTPUT SCREENSHOTS</a:t>
            </a:r>
          </a:p>
        </p:txBody>
      </p:sp>
      <p:pic>
        <p:nvPicPr>
          <p:cNvPr id="3" name="Picture 2" descr="ui_prediction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463040"/>
            <a:ext cx="4937760" cy="3011140"/>
          </a:xfrm>
          <a:prstGeom prst="rect">
            <a:avLst/>
          </a:prstGeom>
        </p:spPr>
      </p:pic>
      <p:pic>
        <p:nvPicPr>
          <p:cNvPr id="4" name="Picture 3" descr="ui_analytics_dashbo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463040"/>
            <a:ext cx="4937760" cy="30111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640080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9/25/2026</a:t>
            </a:r>
          </a:p>
          <a:p>
            <a:pPr algn="ctr">
              <a:defRPr sz="1000">
                <a:solidFill>
                  <a:srgbClr val="64748B"/>
                </a:solidFill>
              </a:defRPr>
            </a:pPr>
            <a:r>
              <a:t>SUMMER INTERNSHIP</a:t>
            </a:r>
          </a:p>
          <a:p>
            <a:pPr algn="r">
              <a:defRPr sz="1000">
                <a:solidFill>
                  <a:srgbClr val="64748B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0F172A"/>
                </a:solidFill>
              </a:defRPr>
            </a:pPr>
            <a:r>
              <a:t>OUTPUT SCREENSHOTS</a:t>
            </a:r>
          </a:p>
        </p:txBody>
      </p:sp>
      <p:pic>
        <p:nvPicPr>
          <p:cNvPr id="3" name="Picture 2" descr="class_d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2377440" cy="1981200"/>
          </a:xfrm>
          <a:prstGeom prst="rect">
            <a:avLst/>
          </a:prstGeom>
        </p:spPr>
      </p:pic>
      <p:pic>
        <p:nvPicPr>
          <p:cNvPr id="4" name="Picture 3" descr="feature_histogram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6160" y="1371600"/>
            <a:ext cx="2560320" cy="2133600"/>
          </a:xfrm>
          <a:prstGeom prst="rect">
            <a:avLst/>
          </a:prstGeom>
        </p:spPr>
      </p:pic>
      <p:pic>
        <p:nvPicPr>
          <p:cNvPr id="5" name="Picture 4" descr="correlation_matrix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0" y="1371600"/>
            <a:ext cx="2468880" cy="1975104"/>
          </a:xfrm>
          <a:prstGeom prst="rect">
            <a:avLst/>
          </a:prstGeom>
        </p:spPr>
      </p:pic>
      <p:pic>
        <p:nvPicPr>
          <p:cNvPr id="6" name="Picture 5" descr="model_compariso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0" y="1371600"/>
            <a:ext cx="2286000" cy="1371600"/>
          </a:xfrm>
          <a:prstGeom prst="rect">
            <a:avLst/>
          </a:prstGeom>
        </p:spPr>
      </p:pic>
      <p:pic>
        <p:nvPicPr>
          <p:cNvPr id="7" name="Picture 6" descr="clustering_kmean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4400" y="3840480"/>
            <a:ext cx="2377440" cy="1783080"/>
          </a:xfrm>
          <a:prstGeom prst="rect">
            <a:avLst/>
          </a:prstGeom>
        </p:spPr>
      </p:pic>
      <p:pic>
        <p:nvPicPr>
          <p:cNvPr id="8" name="Picture 7" descr="clustering_hierarchical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66160" y="3840480"/>
            <a:ext cx="2377440" cy="1783080"/>
          </a:xfrm>
          <a:prstGeom prst="rect">
            <a:avLst/>
          </a:prstGeom>
        </p:spPr>
      </p:pic>
      <p:pic>
        <p:nvPicPr>
          <p:cNvPr id="9" name="Picture 8" descr="cm_logistic_regression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17920" y="3840480"/>
            <a:ext cx="2377440" cy="1981200"/>
          </a:xfrm>
          <a:prstGeom prst="rect">
            <a:avLst/>
          </a:prstGeom>
        </p:spPr>
      </p:pic>
      <p:pic>
        <p:nvPicPr>
          <p:cNvPr id="10" name="Picture 9" descr="ann_training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869680" y="3840480"/>
            <a:ext cx="2560320" cy="10668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31520" y="640080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9/25/2026</a:t>
            </a:r>
          </a:p>
          <a:p>
            <a:pPr algn="ctr">
              <a:defRPr sz="1000">
                <a:solidFill>
                  <a:srgbClr val="64748B"/>
                </a:solidFill>
              </a:defRPr>
            </a:pPr>
            <a:r>
              <a:t>SUMMER INTERNSHIP</a:t>
            </a:r>
          </a:p>
          <a:p>
            <a:pPr algn="r">
              <a:defRPr sz="1000">
                <a:solidFill>
                  <a:srgbClr val="64748B"/>
                </a:solidFill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0F172A"/>
                </a:solidFill>
              </a:defRPr>
            </a:pPr>
            <a: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645920"/>
            <a:ext cx="10058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600"/>
              </a:spcBef>
              <a:defRPr sz="1550">
                <a:solidFill>
                  <a:srgbClr val="1E293B"/>
                </a:solidFill>
              </a:defRPr>
            </a:pPr>
            <a:r>
              <a:t>•  The 15-day internship at DLK Software Solutions provided practical exposure to Artificial Intelligence, Machine Learning and Data Science, and helped bridge academic knowledge with real-world application.</a:t>
            </a:r>
          </a:p>
          <a:p>
            <a:pPr>
              <a:spcBef>
                <a:spcPts val="1600"/>
              </a:spcBef>
              <a:defRPr sz="1550">
                <a:solidFill>
                  <a:srgbClr val="1E293B"/>
                </a:solidFill>
              </a:defRPr>
            </a:pPr>
            <a:r>
              <a:t>•  The AI-Powered Diabetes Prediction &amp; Healthcare Intelligence System successfully integrated data preprocessing, classification algorithms, unsupervised clustering, ANN, and a Flask API tested with Postman.</a:t>
            </a:r>
          </a:p>
          <a:p>
            <a:pPr>
              <a:spcBef>
                <a:spcPts val="1600"/>
              </a:spcBef>
              <a:defRPr sz="1550">
                <a:solidFill>
                  <a:srgbClr val="1E293B"/>
                </a:solidFill>
              </a:defRPr>
            </a:pPr>
            <a:r>
              <a:t>•  The internship strengthened my skills in Python, NumPy, Pandas, Matplotlib, Scikit-Learn, TensorFlow/Keras, Flask and Postman.</a:t>
            </a:r>
          </a:p>
          <a:p>
            <a:pPr>
              <a:spcBef>
                <a:spcPts val="1600"/>
              </a:spcBef>
              <a:defRPr sz="1550">
                <a:solidFill>
                  <a:srgbClr val="1E293B"/>
                </a:solidFill>
              </a:defRPr>
            </a:pPr>
            <a:r>
              <a:t>•  It also improved my problem-solving, debugging and systematic project development skills.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9/25/2026</a:t>
            </a:r>
          </a:p>
          <a:p>
            <a:pPr algn="ctr">
              <a:defRPr sz="1000">
                <a:solidFill>
                  <a:srgbClr val="64748B"/>
                </a:solidFill>
              </a:defRPr>
            </a:pPr>
            <a:r>
              <a:t>SUMMER INTERNSHIP</a:t>
            </a:r>
          </a:p>
          <a:p>
            <a:pPr algn="r">
              <a:defRPr sz="1000">
                <a:solidFill>
                  <a:srgbClr val="64748B"/>
                </a:solidFill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0F172A"/>
                </a:solidFill>
              </a:defRPr>
            </a:pPr>
            <a:r>
              <a:t>CONTRIBUTIONS IN THE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46304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400">
                <a:solidFill>
                  <a:srgbClr val="1E293B"/>
                </a:solidFill>
              </a:defRPr>
            </a:pPr>
            <a:r>
              <a:t>•  Prepared and engineered features for model training and resolved clinical zero readings</a:t>
            </a:r>
          </a:p>
          <a:p>
            <a:pPr>
              <a:spcBef>
                <a:spcPts val="1000"/>
              </a:spcBef>
              <a:defRPr sz="1400">
                <a:solidFill>
                  <a:srgbClr val="1E293B"/>
                </a:solidFill>
              </a:defRPr>
            </a:pPr>
            <a:r>
              <a:t>•  Trained and evaluated supervised classification models (Logistic Regression, KNN, Decision Tree)</a:t>
            </a:r>
          </a:p>
          <a:p>
            <a:pPr>
              <a:spcBef>
                <a:spcPts val="1000"/>
              </a:spcBef>
              <a:defRPr sz="1400">
                <a:solidFill>
                  <a:srgbClr val="1E293B"/>
                </a:solidFill>
              </a:defRPr>
            </a:pPr>
            <a:r>
              <a:t>•  Constructed and optimized a multi-layer Artificial Neural Network using TensorFlow/Keras</a:t>
            </a:r>
          </a:p>
          <a:p>
            <a:pPr>
              <a:spcBef>
                <a:spcPts val="1000"/>
              </a:spcBef>
              <a:defRPr sz="1400">
                <a:solidFill>
                  <a:srgbClr val="1E293B"/>
                </a:solidFill>
              </a:defRPr>
            </a:pPr>
            <a:r>
              <a:t>•  Implemented K-Means and Hierarchical clustering for unsupervised patient profiling</a:t>
            </a:r>
          </a:p>
          <a:p>
            <a:pPr>
              <a:spcBef>
                <a:spcPts val="1000"/>
              </a:spcBef>
              <a:defRPr sz="1400">
                <a:solidFill>
                  <a:srgbClr val="1E293B"/>
                </a:solidFill>
              </a:defRPr>
            </a:pPr>
            <a:r>
              <a:t>•  Integrated the trained models with a Flask-based REST API and web application</a:t>
            </a:r>
          </a:p>
          <a:p>
            <a:pPr>
              <a:spcBef>
                <a:spcPts val="1000"/>
              </a:spcBef>
              <a:defRPr sz="1400">
                <a:solidFill>
                  <a:srgbClr val="1E293B"/>
                </a:solidFill>
              </a:defRPr>
            </a:pPr>
            <a:r>
              <a:t>•  Tested API requests and responses systematically using Postman</a:t>
            </a:r>
          </a:p>
          <a:p>
            <a:pPr>
              <a:spcBef>
                <a:spcPts val="1000"/>
              </a:spcBef>
              <a:defRPr sz="1400">
                <a:solidFill>
                  <a:srgbClr val="1E293B"/>
                </a:solidFill>
              </a:defRPr>
            </a:pPr>
            <a:r>
              <a:t>•  Tested each stage separately and debugged errors systematically</a:t>
            </a:r>
          </a:p>
          <a:p>
            <a:pPr>
              <a:spcBef>
                <a:spcPts val="1000"/>
              </a:spcBef>
              <a:defRPr sz="1400">
                <a:solidFill>
                  <a:srgbClr val="1E293B"/>
                </a:solidFill>
              </a:defRPr>
            </a:pPr>
            <a:r>
              <a:t>•  Worked on improving the overall application workflow, data privacy and responsible AI practices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9/25/2026</a:t>
            </a:r>
          </a:p>
          <a:p>
            <a:pPr algn="ctr">
              <a:defRPr sz="1000">
                <a:solidFill>
                  <a:srgbClr val="64748B"/>
                </a:solidFill>
              </a:defRPr>
            </a:pPr>
            <a:r>
              <a:t>SUMMER INTERNSHIP</a:t>
            </a:r>
          </a:p>
          <a:p>
            <a:pPr algn="r">
              <a:defRPr sz="1000">
                <a:solidFill>
                  <a:srgbClr val="64748B"/>
                </a:solidFill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0F172A"/>
                </a:solidFill>
              </a:defRPr>
            </a:pPr>
            <a:r>
              <a:t>REFERENCES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46304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450">
                <a:solidFill>
                  <a:srgbClr val="1E293B"/>
                </a:solidFill>
              </a:defRPr>
            </a:pPr>
            <a:r>
              <a:t>•  Python Documentation – https://docs.python.org/3/</a:t>
            </a:r>
          </a:p>
          <a:p>
            <a:pPr>
              <a:spcBef>
                <a:spcPts val="1000"/>
              </a:spcBef>
              <a:defRPr sz="1450">
                <a:solidFill>
                  <a:srgbClr val="1E293B"/>
                </a:solidFill>
              </a:defRPr>
            </a:pPr>
            <a:r>
              <a:t>•  NumPy Documentation – https://numpy.org/doc/</a:t>
            </a:r>
          </a:p>
          <a:p>
            <a:pPr>
              <a:spcBef>
                <a:spcPts val="1000"/>
              </a:spcBef>
              <a:defRPr sz="1450">
                <a:solidFill>
                  <a:srgbClr val="1E293B"/>
                </a:solidFill>
              </a:defRPr>
            </a:pPr>
            <a:r>
              <a:t>•  Pandas Documentation – https://pandas.pydata.org/docs/</a:t>
            </a:r>
          </a:p>
          <a:p>
            <a:pPr>
              <a:spcBef>
                <a:spcPts val="1000"/>
              </a:spcBef>
              <a:defRPr sz="1450">
                <a:solidFill>
                  <a:srgbClr val="1E293B"/>
                </a:solidFill>
              </a:defRPr>
            </a:pPr>
            <a:r>
              <a:t>•  Matplotlib Documentation – https://matplotlib.org/stable/</a:t>
            </a:r>
          </a:p>
          <a:p>
            <a:pPr>
              <a:spcBef>
                <a:spcPts val="1000"/>
              </a:spcBef>
              <a:defRPr sz="1450">
                <a:solidFill>
                  <a:srgbClr val="1E293B"/>
                </a:solidFill>
              </a:defRPr>
            </a:pPr>
            <a:r>
              <a:t>•  Scikit-Learn Documentation – https://scikit-learn.org/stable/</a:t>
            </a:r>
          </a:p>
          <a:p>
            <a:pPr>
              <a:spcBef>
                <a:spcPts val="1000"/>
              </a:spcBef>
              <a:defRPr sz="1450">
                <a:solidFill>
                  <a:srgbClr val="1E293B"/>
                </a:solidFill>
              </a:defRPr>
            </a:pPr>
            <a:r>
              <a:t>•  TensorFlow &amp; Keras Documentation – https://www.tensorflow.org/</a:t>
            </a:r>
          </a:p>
          <a:p>
            <a:pPr>
              <a:spcBef>
                <a:spcPts val="1000"/>
              </a:spcBef>
              <a:defRPr sz="1450">
                <a:solidFill>
                  <a:srgbClr val="1E293B"/>
                </a:solidFill>
              </a:defRPr>
            </a:pPr>
            <a:r>
              <a:t>•  Flask Documentation – https://flask.palletsprojects.com/</a:t>
            </a:r>
          </a:p>
          <a:p>
            <a:pPr>
              <a:spcBef>
                <a:spcPts val="1000"/>
              </a:spcBef>
              <a:defRPr sz="1450">
                <a:solidFill>
                  <a:srgbClr val="1E293B"/>
                </a:solidFill>
              </a:defRPr>
            </a:pPr>
            <a:r>
              <a:t>•  Postman Documentation – https://learning.postman.com/docs/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9/25/2026</a:t>
            </a:r>
          </a:p>
          <a:p>
            <a:pPr algn="ctr">
              <a:defRPr sz="1000">
                <a:solidFill>
                  <a:srgbClr val="64748B"/>
                </a:solidFill>
              </a:defRPr>
            </a:pPr>
            <a:r>
              <a:t>SUMMER INTERNSHIP</a:t>
            </a:r>
          </a:p>
          <a:p>
            <a:pPr algn="r">
              <a:defRPr sz="1000">
                <a:solidFill>
                  <a:srgbClr val="64748B"/>
                </a:solidFill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BEDED8"/>
          </a:solidFill>
          <a:ln>
            <a:solidFill>
              <a:srgbClr val="BED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0" y="2286000"/>
            <a:ext cx="8534095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400" b="1">
                <a:solidFill>
                  <a:srgbClr val="FFFFFF"/>
                </a:solidFill>
              </a:defRPr>
            </a:pPr>
            <a:r>
              <a:t>Thank</a:t>
            </a:r>
          </a:p>
          <a:p>
            <a:pPr algn="ctr">
              <a:defRPr sz="6400" b="1">
                <a:solidFill>
                  <a:srgbClr val="FFFFFF"/>
                </a:solidFill>
              </a:defRPr>
            </a:pPr>
            <a:r>
              <a:t>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